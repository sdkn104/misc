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白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游明朝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&lt;フッター&gt;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0C90E7-B08E-4FD7-8140-9F1509A8CF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&lt;番号&gt;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游明朝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タイトル スライ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77120" y="222120"/>
            <a:ext cx="10515240" cy="32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ja-JP" sz="16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マスター タイトルの書式設定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" name="図 2" descr=""/>
          <p:cNvPicPr/>
          <p:nvPr/>
        </p:nvPicPr>
        <p:blipFill>
          <a:blip r:embed="rId2"/>
          <a:stretch/>
        </p:blipFill>
        <p:spPr>
          <a:xfrm>
            <a:off x="0" y="421560"/>
            <a:ext cx="9382680" cy="3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6" descr=""/>
          <p:cNvPicPr/>
          <p:nvPr/>
        </p:nvPicPr>
        <p:blipFill>
          <a:blip r:embed="rId3"/>
          <a:stretch/>
        </p:blipFill>
        <p:spPr>
          <a:xfrm>
            <a:off x="9464400" y="185400"/>
            <a:ext cx="2277360" cy="5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図 1" descr=""/>
          <p:cNvPicPr/>
          <p:nvPr/>
        </p:nvPicPr>
        <p:blipFill>
          <a:blip r:embed="rId4"/>
          <a:stretch/>
        </p:blipFill>
        <p:spPr>
          <a:xfrm>
            <a:off x="0" y="6534360"/>
            <a:ext cx="12191760" cy="44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1"/>
          <p:cNvSpPr/>
          <p:nvPr/>
        </p:nvSpPr>
        <p:spPr>
          <a:xfrm>
            <a:off x="4403520" y="5123160"/>
            <a:ext cx="4230000" cy="1545120"/>
          </a:xfrm>
          <a:prstGeom prst="rect">
            <a:avLst/>
          </a:prstGeom>
          <a:solidFill>
            <a:srgbClr val="ff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Meiryo UI"/>
              <a:ea typeface="Meiryo UI"/>
            </a:endParaRPr>
          </a:p>
        </p:txBody>
      </p:sp>
      <p:sp>
        <p:nvSpPr>
          <p:cNvPr id="11" name="正方形/長方形 2"/>
          <p:cNvSpPr/>
          <p:nvPr/>
        </p:nvSpPr>
        <p:spPr>
          <a:xfrm>
            <a:off x="218880" y="5126040"/>
            <a:ext cx="4165920" cy="1545120"/>
          </a:xfrm>
          <a:prstGeom prst="rect">
            <a:avLst/>
          </a:prstGeom>
          <a:solidFill>
            <a:srgbClr val="b8f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Meiryo UI"/>
              <a:ea typeface="Meiryo UI"/>
            </a:endParaRPr>
          </a:p>
        </p:txBody>
      </p:sp>
      <p:sp>
        <p:nvSpPr>
          <p:cNvPr id="12" name="正方形/長方形 3"/>
          <p:cNvSpPr/>
          <p:nvPr/>
        </p:nvSpPr>
        <p:spPr>
          <a:xfrm>
            <a:off x="4547160" y="3151800"/>
            <a:ext cx="4624920" cy="18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ff330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ふやすことを重視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ff330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元本保証はない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ff330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運用成果（結果）は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　　期待できるが、予測できない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楕円 4"/>
          <p:cNvSpPr/>
          <p:nvPr/>
        </p:nvSpPr>
        <p:spPr>
          <a:xfrm>
            <a:off x="358560" y="1624680"/>
            <a:ext cx="1997640" cy="1367640"/>
          </a:xfrm>
          <a:prstGeom prst="ellipse">
            <a:avLst/>
          </a:prstGeom>
          <a:solidFill>
            <a:srgbClr val="0070c0"/>
          </a:solidFill>
          <a:ln w="0">
            <a:solidFill>
              <a:srgbClr val="b5d2ec"/>
            </a:solidFill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lt1"/>
                </a:solidFill>
                <a:effectLst/>
                <a:uFillTx/>
                <a:latin typeface="Meiryo UI"/>
                <a:ea typeface="Meiryo UI"/>
              </a:rPr>
              <a:t>預貯金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楕円 5"/>
          <p:cNvSpPr/>
          <p:nvPr/>
        </p:nvSpPr>
        <p:spPr>
          <a:xfrm>
            <a:off x="4926600" y="1653840"/>
            <a:ext cx="2123280" cy="1326600"/>
          </a:xfrm>
          <a:prstGeom prst="ellipse">
            <a:avLst/>
          </a:prstGeom>
          <a:solidFill>
            <a:srgbClr val="ff2f2f">
              <a:alpha val="95000"/>
            </a:srgbClr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lt1"/>
                </a:solidFill>
                <a:effectLst/>
                <a:uFillTx/>
                <a:latin typeface="Meiryo UI"/>
                <a:ea typeface="Meiryo UI"/>
              </a:rPr>
              <a:t>投資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" name="直線コネクタ 6"/>
          <p:cNvCxnSpPr/>
          <p:nvPr/>
        </p:nvCxnSpPr>
        <p:spPr>
          <a:xfrm>
            <a:off x="4368960" y="2196720"/>
            <a:ext cx="34560" cy="4507200"/>
          </a:xfrm>
          <a:prstGeom prst="straightConnector1">
            <a:avLst/>
          </a:prstGeom>
          <a:ln w="19050">
            <a:solidFill>
              <a:srgbClr val="0070c0"/>
            </a:solidFill>
            <a:round/>
          </a:ln>
        </p:spPr>
      </p:cxnSp>
      <p:sp>
        <p:nvSpPr>
          <p:cNvPr id="16" name="正方形/長方形 7"/>
          <p:cNvSpPr/>
          <p:nvPr/>
        </p:nvSpPr>
        <p:spPr>
          <a:xfrm>
            <a:off x="29880" y="3184560"/>
            <a:ext cx="4754160" cy="18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00b05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貯めることを重視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00b05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元本保証など確実性を重視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en-US" sz="2400" strike="noStrike" u="none">
                <a:solidFill>
                  <a:srgbClr val="00b050"/>
                </a:solidFill>
                <a:effectLst/>
                <a:uFillTx/>
                <a:latin typeface="Meiryo UI"/>
                <a:ea typeface="Meiryo UI"/>
              </a:rPr>
              <a:t>●</a:t>
            </a: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運用成果（結果）は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3359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　　商品選択時に決まっている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正方形/長方形 8"/>
          <p:cNvSpPr/>
          <p:nvPr/>
        </p:nvSpPr>
        <p:spPr>
          <a:xfrm>
            <a:off x="29520" y="855360"/>
            <a:ext cx="8655480" cy="584280"/>
          </a:xfrm>
          <a:prstGeom prst="rect">
            <a:avLst/>
          </a:prstGeom>
          <a:solidFill>
            <a:srgbClr val="88ba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金融資産の運用には、「預貯金」と「投資」がある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図 9" descr=""/>
          <p:cNvPicPr/>
          <p:nvPr/>
        </p:nvPicPr>
        <p:blipFill>
          <a:blip r:embed="rId1"/>
          <a:stretch/>
        </p:blipFill>
        <p:spPr>
          <a:xfrm>
            <a:off x="2438640" y="1608120"/>
            <a:ext cx="1434240" cy="150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図 10" descr=""/>
          <p:cNvPicPr/>
          <p:nvPr/>
        </p:nvPicPr>
        <p:blipFill>
          <a:blip r:embed="rId2"/>
          <a:stretch/>
        </p:blipFill>
        <p:spPr>
          <a:xfrm>
            <a:off x="7050600" y="1654920"/>
            <a:ext cx="1551960" cy="14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タイトル 1"/>
          <p:cNvSpPr/>
          <p:nvPr/>
        </p:nvSpPr>
        <p:spPr>
          <a:xfrm>
            <a:off x="0" y="263160"/>
            <a:ext cx="475920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90000"/>
              </a:lnSpc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　預貯金と投資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角丸四角形 12"/>
          <p:cNvSpPr/>
          <p:nvPr/>
        </p:nvSpPr>
        <p:spPr>
          <a:xfrm>
            <a:off x="421200" y="5339160"/>
            <a:ext cx="1554840" cy="510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普通預金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角丸四角形 13"/>
          <p:cNvSpPr/>
          <p:nvPr/>
        </p:nvSpPr>
        <p:spPr>
          <a:xfrm>
            <a:off x="406800" y="6068160"/>
            <a:ext cx="1550880" cy="510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定期預金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角丸四角形 14"/>
          <p:cNvSpPr/>
          <p:nvPr/>
        </p:nvSpPr>
        <p:spPr>
          <a:xfrm>
            <a:off x="2040840" y="6068160"/>
            <a:ext cx="2216880" cy="510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積立定期預金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角丸四角形 15"/>
          <p:cNvSpPr/>
          <p:nvPr/>
        </p:nvSpPr>
        <p:spPr>
          <a:xfrm>
            <a:off x="6908400" y="6076440"/>
            <a:ext cx="1550880" cy="510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投資信託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角丸四角形 16"/>
          <p:cNvSpPr/>
          <p:nvPr/>
        </p:nvSpPr>
        <p:spPr>
          <a:xfrm>
            <a:off x="4490280" y="5939640"/>
            <a:ext cx="2357280" cy="6879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ts val="22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債　券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2200"/>
              </a:lnSpc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（国債・地方債など）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正方形/長方形 17"/>
          <p:cNvSpPr/>
          <p:nvPr/>
        </p:nvSpPr>
        <p:spPr>
          <a:xfrm>
            <a:off x="2947680" y="4976280"/>
            <a:ext cx="2907720" cy="645840"/>
          </a:xfrm>
          <a:prstGeom prst="rect">
            <a:avLst/>
          </a:prstGeom>
          <a:solidFill>
            <a:schemeClr val="bg1"/>
          </a:solidFill>
          <a:ln w="57150">
            <a:solidFill>
              <a:srgbClr val="ef95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36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主な金融商品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角丸四角形 21"/>
          <p:cNvSpPr/>
          <p:nvPr/>
        </p:nvSpPr>
        <p:spPr>
          <a:xfrm>
            <a:off x="6908400" y="5339160"/>
            <a:ext cx="1549080" cy="5104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株　式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角丸四角形 46"/>
          <p:cNvSpPr/>
          <p:nvPr/>
        </p:nvSpPr>
        <p:spPr>
          <a:xfrm>
            <a:off x="1590840" y="3463560"/>
            <a:ext cx="7130160" cy="950040"/>
          </a:xfrm>
          <a:prstGeom prst="roundRect">
            <a:avLst>
              <a:gd name="adj" fmla="val 0"/>
            </a:avLst>
          </a:prstGeom>
          <a:solidFill>
            <a:srgbClr val="ede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角丸四角形 44"/>
          <p:cNvSpPr/>
          <p:nvPr/>
        </p:nvSpPr>
        <p:spPr>
          <a:xfrm>
            <a:off x="1590840" y="2425320"/>
            <a:ext cx="7130160" cy="960840"/>
          </a:xfrm>
          <a:prstGeom prst="roundRect">
            <a:avLst>
              <a:gd name="adj" fmla="val 0"/>
            </a:avLst>
          </a:prstGeom>
          <a:solidFill>
            <a:srgbClr val="ede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角丸四角形 43"/>
          <p:cNvSpPr/>
          <p:nvPr/>
        </p:nvSpPr>
        <p:spPr>
          <a:xfrm>
            <a:off x="1590840" y="1385280"/>
            <a:ext cx="7130160" cy="950040"/>
          </a:xfrm>
          <a:prstGeom prst="roundRect">
            <a:avLst>
              <a:gd name="adj" fmla="val 0"/>
            </a:avLst>
          </a:prstGeom>
          <a:solidFill>
            <a:srgbClr val="ede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" name="正方形/長方形 50"/>
          <p:cNvSpPr/>
          <p:nvPr/>
        </p:nvSpPr>
        <p:spPr>
          <a:xfrm>
            <a:off x="7610400" y="831960"/>
            <a:ext cx="1056600" cy="369396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  <a:effectLst>
            <a:outerShdw algn="ctr" blurRad="190440" dir="2700000" dist="228593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" name="正方形/長方形 49"/>
          <p:cNvSpPr/>
          <p:nvPr/>
        </p:nvSpPr>
        <p:spPr>
          <a:xfrm>
            <a:off x="6129720" y="831960"/>
            <a:ext cx="1047600" cy="369396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  <a:effectLst>
            <a:outerShdw algn="ctr" blurRad="190440" dir="2700000" dist="228593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" name="正方形/長方形 48"/>
          <p:cNvSpPr/>
          <p:nvPr/>
        </p:nvSpPr>
        <p:spPr>
          <a:xfrm>
            <a:off x="4521960" y="831960"/>
            <a:ext cx="1123920" cy="369396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  <a:effectLst>
            <a:outerShdw algn="ctr" blurRad="190440" dir="2700000" dist="228593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角丸四角形 45"/>
          <p:cNvSpPr/>
          <p:nvPr/>
        </p:nvSpPr>
        <p:spPr>
          <a:xfrm>
            <a:off x="37440" y="2441880"/>
            <a:ext cx="1827000" cy="950040"/>
          </a:xfrm>
          <a:prstGeom prst="roundRect">
            <a:avLst>
              <a:gd name="adj" fmla="val 16667"/>
            </a:avLst>
          </a:prstGeom>
          <a:solidFill>
            <a:srgbClr val="dec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" name="角丸四角形 47"/>
          <p:cNvSpPr/>
          <p:nvPr/>
        </p:nvSpPr>
        <p:spPr>
          <a:xfrm>
            <a:off x="46440" y="3463560"/>
            <a:ext cx="1830600" cy="950040"/>
          </a:xfrm>
          <a:prstGeom prst="roundRect">
            <a:avLst>
              <a:gd name="adj" fmla="val 16667"/>
            </a:avLst>
          </a:prstGeom>
          <a:solidFill>
            <a:srgbClr val="dec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" name="角丸四角形 42"/>
          <p:cNvSpPr/>
          <p:nvPr/>
        </p:nvSpPr>
        <p:spPr>
          <a:xfrm>
            <a:off x="46440" y="1383480"/>
            <a:ext cx="1827000" cy="950040"/>
          </a:xfrm>
          <a:prstGeom prst="roundRect">
            <a:avLst>
              <a:gd name="adj" fmla="val 16667"/>
            </a:avLst>
          </a:prstGeom>
          <a:solidFill>
            <a:srgbClr val="dec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" name="正方形/長方形 23"/>
          <p:cNvSpPr/>
          <p:nvPr/>
        </p:nvSpPr>
        <p:spPr>
          <a:xfrm>
            <a:off x="152280" y="4602960"/>
            <a:ext cx="8464320" cy="584280"/>
          </a:xfrm>
          <a:prstGeom prst="rect">
            <a:avLst/>
          </a:prstGeom>
          <a:solidFill>
            <a:srgbClr val="f1de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ja-JP" sz="32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３つとも　　　の金融商品はない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タイトル 2"/>
          <p:cNvSpPr/>
          <p:nvPr/>
        </p:nvSpPr>
        <p:spPr>
          <a:xfrm>
            <a:off x="-17640" y="242640"/>
            <a:ext cx="42645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　金融商品の比較例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正方形/長方形 28"/>
          <p:cNvSpPr/>
          <p:nvPr/>
        </p:nvSpPr>
        <p:spPr>
          <a:xfrm>
            <a:off x="1937880" y="3553920"/>
            <a:ext cx="26521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収益性も少しありつつ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安全性も高い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正方形/長方形 29"/>
          <p:cNvSpPr/>
          <p:nvPr/>
        </p:nvSpPr>
        <p:spPr>
          <a:xfrm>
            <a:off x="4467600" y="880560"/>
            <a:ext cx="1292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安全性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正方形/長方形 30"/>
          <p:cNvSpPr/>
          <p:nvPr/>
        </p:nvSpPr>
        <p:spPr>
          <a:xfrm>
            <a:off x="6025680" y="880560"/>
            <a:ext cx="1292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収益性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正方形/長方形 31"/>
          <p:cNvSpPr/>
          <p:nvPr/>
        </p:nvSpPr>
        <p:spPr>
          <a:xfrm>
            <a:off x="7493760" y="880560"/>
            <a:ext cx="1292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ja-JP" sz="2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流動性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正方形/長方形 32"/>
          <p:cNvSpPr/>
          <p:nvPr/>
        </p:nvSpPr>
        <p:spPr>
          <a:xfrm>
            <a:off x="19800" y="1585080"/>
            <a:ext cx="18626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普通預金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正方形/長方形 33"/>
          <p:cNvSpPr/>
          <p:nvPr/>
        </p:nvSpPr>
        <p:spPr>
          <a:xfrm>
            <a:off x="39600" y="2624760"/>
            <a:ext cx="18626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国内株式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正方形/長方形 34"/>
          <p:cNvSpPr/>
          <p:nvPr/>
        </p:nvSpPr>
        <p:spPr>
          <a:xfrm>
            <a:off x="75240" y="3646080"/>
            <a:ext cx="18626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国内債券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図 35" descr=""/>
          <p:cNvPicPr/>
          <p:nvPr/>
        </p:nvPicPr>
        <p:blipFill>
          <a:blip r:embed="rId1"/>
          <a:stretch/>
        </p:blipFill>
        <p:spPr>
          <a:xfrm>
            <a:off x="4467600" y="1475280"/>
            <a:ext cx="427140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図 36" descr=""/>
          <p:cNvPicPr/>
          <p:nvPr/>
        </p:nvPicPr>
        <p:blipFill>
          <a:blip r:embed="rId2"/>
          <a:stretch/>
        </p:blipFill>
        <p:spPr>
          <a:xfrm>
            <a:off x="4599720" y="2527920"/>
            <a:ext cx="4079880" cy="76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図 37" descr=""/>
          <p:cNvPicPr/>
          <p:nvPr/>
        </p:nvPicPr>
        <p:blipFill>
          <a:blip r:embed="rId3"/>
          <a:stretch/>
        </p:blipFill>
        <p:spPr>
          <a:xfrm>
            <a:off x="4599720" y="3564000"/>
            <a:ext cx="412128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正方形/長方形 38"/>
          <p:cNvSpPr/>
          <p:nvPr/>
        </p:nvSpPr>
        <p:spPr>
          <a:xfrm>
            <a:off x="3179160" y="4357080"/>
            <a:ext cx="106776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6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◎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正方形/長方形 39"/>
          <p:cNvSpPr/>
          <p:nvPr/>
        </p:nvSpPr>
        <p:spPr>
          <a:xfrm>
            <a:off x="1882800" y="1512000"/>
            <a:ext cx="30700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収益性は高くはないが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安全性、流動性は高い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正方形/長方形 40"/>
          <p:cNvSpPr/>
          <p:nvPr/>
        </p:nvSpPr>
        <p:spPr>
          <a:xfrm>
            <a:off x="1882800" y="2549880"/>
            <a:ext cx="292140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安全性は低くても大きな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ja-JP" sz="2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収益性が期待できる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角丸四角形 41"/>
          <p:cNvSpPr/>
          <p:nvPr/>
        </p:nvSpPr>
        <p:spPr>
          <a:xfrm>
            <a:off x="88200" y="5301000"/>
            <a:ext cx="8528400" cy="1319400"/>
          </a:xfrm>
          <a:prstGeom prst="roundRect">
            <a:avLst>
              <a:gd name="adj" fmla="val 6184"/>
            </a:avLst>
          </a:prstGeom>
          <a:solidFill>
            <a:srgbClr val="ea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spAutoFit/>
          </a:bodyPr>
          <a:p>
            <a:pPr defTabSz="457200">
              <a:lnSpc>
                <a:spcPts val="2500"/>
              </a:lnSpc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＊金融機関が破綻した場合＊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ts val="25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普通預金は</a:t>
            </a:r>
            <a:r>
              <a:rPr b="1" lang="ja-JP" sz="1800" strike="noStrike" u="none">
                <a:solidFill>
                  <a:srgbClr val="ff0000"/>
                </a:solidFill>
                <a:effectLst/>
                <a:uFillTx/>
                <a:latin typeface="Meiryo UI"/>
                <a:ea typeface="Meiryo UI"/>
              </a:rPr>
              <a:t>預金保険制度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により元本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1,000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万円（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1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金融機関ごとに預金者１人当たり）までとその利息等が保護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ts val="25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株式・債券は</a:t>
            </a:r>
            <a:r>
              <a:rPr b="1" lang="ja-JP" sz="1800" strike="noStrike" u="none">
                <a:solidFill>
                  <a:srgbClr val="ff0000"/>
                </a:solidFill>
                <a:effectLst/>
                <a:uFillTx/>
                <a:latin typeface="Meiryo UI"/>
                <a:ea typeface="Meiryo UI"/>
              </a:rPr>
              <a:t>分別管理</a:t>
            </a:r>
            <a:r>
              <a:rPr b="0" lang="ja-JP" sz="1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と投資者保護基金による補償の二重の制度によって保護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" dur="indefinite" restart="never" nodeType="tmRoot">
          <p:childTnLst>
            <p:seq>
              <p:cTn id="67" dur="indefinite" nodeType="mainSeq">
                <p:childTnLst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角丸四角形 1"/>
          <p:cNvSpPr/>
          <p:nvPr/>
        </p:nvSpPr>
        <p:spPr>
          <a:xfrm>
            <a:off x="136800" y="5074920"/>
            <a:ext cx="8479800" cy="1533960"/>
          </a:xfrm>
          <a:prstGeom prst="roundRect">
            <a:avLst>
              <a:gd name="adj" fmla="val 16667"/>
            </a:avLst>
          </a:prstGeom>
          <a:solidFill>
            <a:srgbClr val="c7c7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Meiryo UI"/>
              <a:ea typeface="Meiryo UI"/>
            </a:endParaRPr>
          </a:p>
        </p:txBody>
      </p:sp>
      <p:sp>
        <p:nvSpPr>
          <p:cNvPr id="54" name="角丸四角形 2"/>
          <p:cNvSpPr/>
          <p:nvPr/>
        </p:nvSpPr>
        <p:spPr>
          <a:xfrm>
            <a:off x="158760" y="3430800"/>
            <a:ext cx="8459280" cy="1493640"/>
          </a:xfrm>
          <a:prstGeom prst="roundRect">
            <a:avLst>
              <a:gd name="adj" fmla="val 16667"/>
            </a:avLst>
          </a:prstGeom>
          <a:solidFill>
            <a:srgbClr val="c7c7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Meiryo UI"/>
              <a:ea typeface="Meiryo UI"/>
            </a:endParaRPr>
          </a:p>
        </p:txBody>
      </p:sp>
      <p:sp>
        <p:nvSpPr>
          <p:cNvPr id="55" name="角丸四角形 3"/>
          <p:cNvSpPr/>
          <p:nvPr/>
        </p:nvSpPr>
        <p:spPr>
          <a:xfrm>
            <a:off x="158760" y="1649160"/>
            <a:ext cx="8459280" cy="1627920"/>
          </a:xfrm>
          <a:prstGeom prst="roundRect">
            <a:avLst>
              <a:gd name="adj" fmla="val 16667"/>
            </a:avLst>
          </a:prstGeom>
          <a:solidFill>
            <a:srgbClr val="c7c7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Meiryo UI"/>
              <a:ea typeface="Meiryo UI"/>
            </a:endParaRPr>
          </a:p>
        </p:txBody>
      </p:sp>
      <p:sp>
        <p:nvSpPr>
          <p:cNvPr id="56" name="正方形/長方形 4"/>
          <p:cNvSpPr/>
          <p:nvPr/>
        </p:nvSpPr>
        <p:spPr>
          <a:xfrm>
            <a:off x="2513160" y="1783440"/>
            <a:ext cx="6017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4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パッケージ商品なので、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ja-JP" sz="40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分散投資でリスクを軽減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正方形/長方形 5"/>
          <p:cNvSpPr/>
          <p:nvPr/>
        </p:nvSpPr>
        <p:spPr>
          <a:xfrm>
            <a:off x="2430000" y="3734640"/>
            <a:ext cx="60170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44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専門家に運用はお任せ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正方形/長方形 6"/>
          <p:cNvSpPr/>
          <p:nvPr/>
        </p:nvSpPr>
        <p:spPr>
          <a:xfrm>
            <a:off x="2448720" y="5089320"/>
            <a:ext cx="56818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少額で投資可能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正方形/長方形 7"/>
          <p:cNvSpPr/>
          <p:nvPr/>
        </p:nvSpPr>
        <p:spPr>
          <a:xfrm>
            <a:off x="230400" y="915120"/>
            <a:ext cx="77904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株式や債券などを組み合わせた</a:t>
            </a:r>
            <a:r>
              <a:rPr b="1" lang="ja-JP" sz="32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パッケージ商品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正方形/長方形 8"/>
          <p:cNvSpPr/>
          <p:nvPr/>
        </p:nvSpPr>
        <p:spPr>
          <a:xfrm>
            <a:off x="2448720" y="5531760"/>
            <a:ext cx="59979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積立投資なら、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500</a:t>
            </a: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円や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1,000</a:t>
            </a: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円程度からの場合も。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図 9" descr=""/>
          <p:cNvPicPr/>
          <p:nvPr/>
        </p:nvPicPr>
        <p:blipFill>
          <a:blip r:embed="rId1"/>
          <a:stretch/>
        </p:blipFill>
        <p:spPr>
          <a:xfrm>
            <a:off x="387360" y="3578400"/>
            <a:ext cx="1555920" cy="12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図 10" descr=""/>
          <p:cNvPicPr/>
          <p:nvPr/>
        </p:nvPicPr>
        <p:blipFill>
          <a:blip r:embed="rId2"/>
          <a:stretch/>
        </p:blipFill>
        <p:spPr>
          <a:xfrm>
            <a:off x="409320" y="5325840"/>
            <a:ext cx="1689480" cy="85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図 11" descr=""/>
          <p:cNvPicPr/>
          <p:nvPr/>
        </p:nvPicPr>
        <p:blipFill>
          <a:blip r:embed="rId3"/>
          <a:stretch/>
        </p:blipFill>
        <p:spPr>
          <a:xfrm>
            <a:off x="497880" y="1686960"/>
            <a:ext cx="1423800" cy="153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221040"/>
            <a:ext cx="3327480" cy="41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　投資信託とは？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7160" y="161280"/>
            <a:ext cx="3738960" cy="41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ja-JP" sz="2800" strike="noStrike" u="none">
                <a:solidFill>
                  <a:schemeClr val="dk1"/>
                </a:solidFill>
                <a:effectLst/>
                <a:uFillTx/>
                <a:latin typeface="Meiryo UI"/>
                <a:ea typeface="Meiryo UI"/>
              </a:rPr>
              <a:t>まとめ（資産運用）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テキスト ボックス 2"/>
          <p:cNvSpPr/>
          <p:nvPr/>
        </p:nvSpPr>
        <p:spPr>
          <a:xfrm>
            <a:off x="66960" y="869040"/>
            <a:ext cx="8549640" cy="1630800"/>
          </a:xfrm>
          <a:prstGeom prst="rect">
            <a:avLst/>
          </a:prstGeom>
          <a:solidFill>
            <a:srgbClr val="92d050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457200">
              <a:lnSpc>
                <a:spcPts val="4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金融資産の運用の手段には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9640" defTabSz="457200">
              <a:lnSpc>
                <a:spcPts val="4000"/>
              </a:lnSpc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貯めることを重視する預貯金と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39640" defTabSz="457200">
              <a:lnSpc>
                <a:spcPts val="4000"/>
              </a:lnSpc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ふやすことを重視する投資がある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テキスト ボックス 4"/>
          <p:cNvSpPr/>
          <p:nvPr/>
        </p:nvSpPr>
        <p:spPr>
          <a:xfrm>
            <a:off x="66960" y="4034160"/>
            <a:ext cx="8527680" cy="1199880"/>
          </a:xfrm>
          <a:prstGeom prst="rect">
            <a:avLst/>
          </a:prstGeom>
          <a:solidFill>
            <a:srgbClr val="92d050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投資のための商品には株式、債券と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　 それをパッケージにした投資信託がある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テキスト ボックス 5"/>
          <p:cNvSpPr/>
          <p:nvPr/>
        </p:nvSpPr>
        <p:spPr>
          <a:xfrm>
            <a:off x="66960" y="2636280"/>
            <a:ext cx="8527680" cy="1199880"/>
          </a:xfrm>
          <a:prstGeom prst="rect">
            <a:avLst/>
          </a:prstGeom>
          <a:solidFill>
            <a:srgbClr val="92d050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金融は経済成長や生活を豊かにするには欠かせないもの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テキスト ボックス 6"/>
          <p:cNvSpPr/>
          <p:nvPr/>
        </p:nvSpPr>
        <p:spPr>
          <a:xfrm>
            <a:off x="66960" y="5394600"/>
            <a:ext cx="8527680" cy="1199880"/>
          </a:xfrm>
          <a:prstGeom prst="rect">
            <a:avLst/>
          </a:prstGeom>
          <a:solidFill>
            <a:srgbClr val="92d050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ローリスク・ハイリターンの金融商品は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ja-JP" sz="3600" strike="noStrike" u="none">
                <a:solidFill>
                  <a:srgbClr val="000000"/>
                </a:solidFill>
                <a:effectLst/>
                <a:uFillTx/>
                <a:latin typeface="Meiryo UI"/>
                <a:ea typeface="Meiryo UI"/>
              </a:rPr>
              <a:t>　 存在しない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960</TotalTime>
  <Application>LibreOffice/25.2.6.2$Windows_X86_64 LibreOffice_project/729c5bfe710f5eb71ed3bbde9e06a6065e9c6c5d</Application>
  <AppVersion>15.0000</AppVersion>
  <Words>955</Words>
  <Paragraphs>204</Paragraphs>
  <Company>HP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2021-06-28T06:01:13Z</dcterms:created>
  <dc:creator>クオラス</dc:creator>
  <dc:description/>
  <dc:language>ja-JP</dc:language>
  <cp:lastModifiedBy/>
  <cp:lastPrinted>2021-10-01T02:21:36Z</cp:lastPrinted>
  <dcterms:modified xsi:type="dcterms:W3CDTF">2025-11-02T10:20:17Z</dcterms:modified>
  <cp:revision>110</cp:revision>
  <dc:subject/>
  <dc:title>PowerPoint プレゼンテーション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ワイド画面</vt:lpwstr>
  </property>
  <property fmtid="{D5CDD505-2E9C-101B-9397-08002B2CF9AE}" pid="3" name="Slides">
    <vt:i4>16</vt:i4>
  </property>
</Properties>
</file>