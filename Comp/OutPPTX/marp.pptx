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arpit.marp.app/"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Marp サンプル</a:t>
            </a:r>
          </a:p>
        </p:txBody>
      </p:sp>
      <p:sp>
        <p:nvSpPr>
          <p:cNvPr id="3" name="Content Placeholder 2"/>
          <p:cNvSpPr>
            <a:spLocks noGrp="1"/>
          </p:cNvSpPr>
          <p:nvPr>
            <p:ph idx="1"/>
          </p:nvPr>
        </p:nvSpPr>
        <p:spPr/>
        <p:txBody>
          <a:bodyPr/>
          <a:lstStyle/>
          <a:p>
            <a:pPr lvl="0" indent="0" marL="0">
              <a:buNone/>
            </a:pPr>
          </a:p>
          <a:p>
            <a:pPr lvl="0" indent="0" marL="0">
              <a:spcBef>
                <a:spcPts val="3000"/>
              </a:spcBef>
              <a:buNone/>
            </a:pPr>
            <a:r>
              <a:rPr b="1"/>
              <a:t>theme: my-theme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About Marp</a:t>
            </a:r>
          </a:p>
          <a:p>
            <a:pPr lvl="0" indent="0" marL="0">
              <a:spcBef>
                <a:spcPts val="3000"/>
              </a:spcBef>
              <a:buNone/>
            </a:pPr>
            <a:r>
              <a:rPr b="1"/>
              <a:t>公式</a:t>
            </a:r>
          </a:p>
          <a:p>
            <a:pPr lvl="0"/>
            <a:r>
              <a:rPr/>
              <a:t>Marpit: 基盤ライブラリ：　</a:t>
            </a:r>
            <a:r>
              <a:rPr>
                <a:hlinkClick r:id="rId2"/>
              </a:rPr>
              <a:t>https://marpit.marp.app/</a:t>
            </a:r>
          </a:p>
          <a:p>
            <a:pPr lvl="0"/>
            <a:r>
              <a:rPr/>
              <a:t>Marp: アプリケーション群：　(https://marp.app/)</a:t>
            </a:r>
          </a:p>
          <a:p>
            <a:pPr lvl="0" indent="0" marL="0">
              <a:spcBef>
                <a:spcPts val="3000"/>
              </a:spcBef>
              <a:buNone/>
            </a:pPr>
            <a:r>
              <a:rPr b="1"/>
              <a:t>VS Code Extension</a:t>
            </a:r>
          </a:p>
          <a:p>
            <a:pPr lvl="0"/>
            <a:r>
              <a:rPr/>
              <a:t>Marp for VS Code</a:t>
            </a:r>
          </a:p>
          <a:p>
            <a:pPr lvl="1"/>
            <a:r>
              <a:rPr/>
              <a:t>User setting に theme css ファイル名を指定し、workspaceフォルダに置く</a:t>
            </a:r>
          </a:p>
          <a:p>
            <a:pPr lvl="0" indent="0" marL="0">
              <a:spcBef>
                <a:spcPts val="3000"/>
              </a:spcBef>
              <a:buNone/>
            </a:pPr>
            <a:r>
              <a:rPr b="1"/>
              <a:t>テンプレート・サンプル</a:t>
            </a:r>
          </a:p>
          <a:p>
            <a:pPr lvl="0"/>
            <a:r>
              <a:rPr/>
              <a:t>https://qiita.com/tomo_makes/items/aafae4021986553ae1d8</a:t>
            </a:r>
          </a:p>
          <a:p>
            <a:pPr lvl="0"/>
            <a:r>
              <a:rPr/>
              <a:t>https://qiita.com/zono_0/items/e6ab64f381440578ea1c</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テーブル・見出し・箇条書き</a:t>
            </a:r>
          </a:p>
          <a:p>
            <a:pPr lvl="0" indent="0" marL="0">
              <a:spcBef>
                <a:spcPts val="3000"/>
              </a:spcBef>
              <a:buNone/>
            </a:pPr>
            <a:r>
              <a:rPr b="1"/>
              <a:t>体制図</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役割</a:t>
                      </a:r>
                    </a:p>
                  </a:txBody>
                  <a:tcPr/>
                </a:tc>
                <a:tc>
                  <a:txBody>
                    <a:bodyPr/>
                    <a:lstStyle/>
                    <a:p>
                      <a:pPr lvl="0" indent="0" marL="0" algn="l">
                        <a:buNone/>
                      </a:pPr>
                      <a:r>
                        <a:rPr/>
                        <a:t>担当者</a:t>
                      </a:r>
                    </a:p>
                  </a:txBody>
                  <a:tcPr/>
                </a:tc>
                <a:tc>
                  <a:txBody>
                    <a:bodyPr/>
                    <a:lstStyle/>
                    <a:p>
                      <a:pPr lvl="0" indent="0" marL="0" algn="l">
                        <a:buNone/>
                      </a:pPr>
                      <a:r>
                        <a:rPr/>
                        <a:t>責任範囲</a:t>
                      </a:r>
                    </a:p>
                  </a:txBody>
                  <a:tcPr/>
                </a:tc>
              </a:tr>
              <a:tr h="0">
                <a:tc>
                  <a:txBody>
                    <a:bodyPr/>
                    <a:lstStyle/>
                    <a:p>
                      <a:pPr lvl="0" indent="0" marL="0" algn="l">
                        <a:buNone/>
                      </a:pPr>
                      <a:r>
                        <a:rPr/>
                        <a:t>プロジェクトマネージャー</a:t>
                      </a:r>
                    </a:p>
                  </a:txBody>
                </a:tc>
                <a:tc>
                  <a:txBody>
                    <a:bodyPr/>
                    <a:lstStyle/>
                    <a:p>
                      <a:pPr lvl="0" indent="0" marL="0" algn="l">
                        <a:buNone/>
                      </a:pPr>
                      <a:r>
                        <a:rPr/>
                        <a:t>[PM名]</a:t>
                      </a:r>
                    </a:p>
                  </a:txBody>
                </a:tc>
                <a:tc>
                  <a:txBody>
                    <a:bodyPr/>
                    <a:lstStyle/>
                    <a:p>
                      <a:pPr lvl="0" indent="0" marL="0" algn="l">
                        <a:buNone/>
                      </a:pPr>
                      <a:r>
                        <a:rPr/>
                        <a:t>全体管理、進捗、課題管理</a:t>
                      </a:r>
                    </a:p>
                  </a:txBody>
                </a:tc>
              </a:tr>
              <a:tr h="0">
                <a:tc>
                  <a:txBody>
                    <a:bodyPr/>
                    <a:lstStyle/>
                    <a:p>
                      <a:pPr lvl="0" indent="0" marL="0" algn="l">
                        <a:buNone/>
                      </a:pPr>
                      <a:r>
                        <a:rPr/>
                        <a:t>テックリード</a:t>
                      </a:r>
                    </a:p>
                  </a:txBody>
                </a:tc>
                <a:tc>
                  <a:txBody>
                    <a:bodyPr/>
                    <a:lstStyle/>
                    <a:p>
                      <a:pPr lvl="0" indent="0" marL="0" algn="l">
                        <a:buNone/>
                      </a:pPr>
                      <a:r>
                        <a:rPr/>
                        <a:t>[リード名]</a:t>
                      </a:r>
                    </a:p>
                  </a:txBody>
                </a:tc>
                <a:tc>
                  <a:txBody>
                    <a:bodyPr/>
                    <a:lstStyle/>
                    <a:p>
                      <a:pPr lvl="0" indent="0" marL="0" algn="l">
                        <a:buNone/>
                      </a:pPr>
                      <a:r>
                        <a:rPr/>
                        <a:t>技術選定、設計、コードレビュー</a:t>
                      </a:r>
                    </a:p>
                  </a:txBody>
                </a:tc>
              </a:tr>
              <a:tr h="0">
                <a:tc>
                  <a:txBody>
                    <a:bodyPr/>
                    <a:lstStyle/>
                    <a:p>
                      <a:pPr lvl="0" indent="0" marL="0" algn="l">
                        <a:buNone/>
                      </a:pPr>
                      <a:r>
                        <a:rPr/>
                        <a:t>開発担当</a:t>
                      </a:r>
                    </a:p>
                  </a:txBody>
                </a:tc>
                <a:tc>
                  <a:txBody>
                    <a:bodyPr/>
                    <a:lstStyle/>
                    <a:p>
                      <a:pPr lvl="0" indent="0" marL="0" algn="l">
                        <a:buNone/>
                      </a:pPr>
                      <a:r>
                        <a:rPr/>
                        <a:t>[開発者名]</a:t>
                      </a:r>
                    </a:p>
                  </a:txBody>
                </a:tc>
                <a:tc>
                  <a:txBody>
                    <a:bodyPr/>
                    <a:lstStyle/>
                    <a:p>
                      <a:pPr lvl="0" indent="0" marL="0" algn="l">
                        <a:buNone/>
                      </a:pPr>
                      <a:r>
                        <a:rPr/>
                        <a:t>機能実装、テスト</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0">
              <a:spcBef>
                <a:spcPts val="3000"/>
              </a:spcBef>
              <a:buNone/>
            </a:pPr>
            <a:r>
              <a:rPr b="1"/>
              <a:t>見出し3</a:t>
            </a:r>
          </a:p>
          <a:p>
            <a:pPr lvl="0" indent="0" marL="0">
              <a:spcBef>
                <a:spcPts val="3000"/>
              </a:spcBef>
              <a:buNone/>
            </a:pPr>
            <a:r>
              <a:rPr b="1"/>
              <a:t>見出し4</a:t>
            </a:r>
          </a:p>
          <a:p>
            <a:pPr lvl="0"/>
            <a:r>
              <a:rPr b="1"/>
              <a:t>定例会議:</a:t>
            </a:r>
            <a:r>
              <a:rPr/>
              <a:t> 毎週月曜日 10:00-10:30</a:t>
            </a:r>
          </a:p>
          <a:p>
            <a:pPr lvl="1"/>
            <a:r>
              <a:rPr b="1"/>
              <a:t>連絡ツール:</a:t>
            </a:r>
            <a:r>
              <a:rPr/>
              <a:t> Slack, Google Meet</a:t>
            </a:r>
          </a:p>
          <a:p>
            <a:pPr lvl="2"/>
            <a:r>
              <a:rPr/>
              <a:t>その他</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Design Guideline</a:t>
            </a:r>
          </a:p>
        </p:txBody>
      </p:sp>
      <p:sp>
        <p:nvSpPr>
          <p:cNvPr id="3" name="Content Placeholder 2"/>
          <p:cNvSpPr>
            <a:spLocks noGrp="1"/>
          </p:cNvSpPr>
          <p:nvPr>
            <p:ph idx="1"/>
          </p:nvPr>
        </p:nvSpPr>
        <p:spPr/>
        <p:txBody>
          <a:bodyPr/>
          <a:lstStyle/>
          <a:p>
            <a:pPr lvl="0" indent="0" marL="0">
              <a:spcBef>
                <a:spcPts val="3000"/>
              </a:spcBef>
              <a:buNone/>
            </a:pPr>
            <a:r>
              <a:rPr b="1"/>
              <a:t>このテンプレートを美しく保つためのルール</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スライドタイトル (</a:t>
            </a:r>
            <a:r>
              <a:rPr b="1">
                <a:latin typeface="Courier"/>
              </a:rPr>
              <a:t>##</a:t>
            </a:r>
            <a:r>
              <a:rPr b="1"/>
              <a:t>) のルール</a:t>
            </a:r>
          </a:p>
          <a:p>
            <a:pPr lvl="0" indent="0" marL="0">
              <a:spcBef>
                <a:spcPts val="3000"/>
              </a:spcBef>
              <a:buNone/>
            </a:pPr>
            <a:r>
              <a:rPr b="1"/>
              <a:t>原則: 必ず1行に収めること</a:t>
            </a:r>
          </a:p>
          <a:p>
            <a:pPr lvl="0" indent="0" marL="0">
              <a:buNone/>
            </a:pPr>
            <a:r>
              <a:rPr/>
              <a:t>タイトルが2行になると、後続のコンテンツと重なり、レイアウトが完全に崩れてしまいます。これは最も重要なルールです。</a:t>
            </a:r>
          </a:p>
          <a:p>
            <a:pPr lvl="0" indent="0" marL="0">
              <a:spcBef>
                <a:spcPts val="3000"/>
              </a:spcBef>
              <a:buNone/>
            </a:pPr>
            <a:r>
              <a:rPr b="1"/>
              <a:t>目安: 全角30文字以内</a:t>
            </a:r>
          </a:p>
          <a:p>
            <a:pPr lvl="0" indent="0" marL="0">
              <a:buNone/>
            </a:pPr>
            <a:r>
              <a:rPr/>
              <a:t>簡潔で分かりやすいタイトルを心がけてください。</a:t>
            </a:r>
          </a:p>
          <a:p>
            <a:pPr lvl="0" indent="0" marL="0">
              <a:buNone/>
            </a:pPr>
          </a:p>
          <a:p>
            <a:pPr lvl="0" indent="0" marL="0">
              <a:spcBef>
                <a:spcPts val="3000"/>
              </a:spcBef>
              <a:buNone/>
            </a:pPr>
            <a:r>
              <a:rPr b="1"/>
              <a:t>悪い例 (Bad) </a:t>
            </a:r>
          </a:p>
          <a:p>
            <a:pPr lvl="0" indent="0" marL="0">
              <a:buNone/>
            </a:pPr>
            <a:r>
              <a:rPr>
                <a:latin typeface="Courier"/>
              </a:rPr>
              <a:t>## このプロジェクトにおける非常に重要な技術的負債とその具体的な返済計画に関する長大な考察</a:t>
            </a:r>
            <a:r>
              <a:rPr/>
              <a:t> （長すぎて改行され、レイアウトが崩れます）</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本文・箇条書きのルール</a:t>
            </a:r>
          </a:p>
          <a:p>
            <a:pPr lvl="0" indent="0" marL="0">
              <a:spcBef>
                <a:spcPts val="3000"/>
              </a:spcBef>
              <a:buNone/>
            </a:pPr>
            <a:r>
              <a:rPr b="1"/>
              <a:t>原則: 1スライド・1メッセージ</a:t>
            </a:r>
          </a:p>
          <a:p>
            <a:pPr lvl="0" indent="0" marL="0">
              <a:buNone/>
            </a:pPr>
            <a:r>
              <a:rPr/>
              <a:t>1枚のスライドに情報を詰め込みすぎず、聞き手が集中できるよう、最も伝えたいメッセージを1つに絞りましょう。</a:t>
            </a:r>
          </a:p>
          <a:p>
            <a:pPr lvl="0" indent="0" marL="0">
              <a:spcBef>
                <a:spcPts val="3000"/>
              </a:spcBef>
              <a:buNone/>
            </a:pPr>
            <a:r>
              <a:rPr b="1"/>
              <a:t>推奨するレイアウトと文字量</a:t>
            </a:r>
          </a:p>
          <a:p>
            <a:pPr lvl="0"/>
            <a:r>
              <a:rPr b="1"/>
              <a:t>1行あたりの文字数:</a:t>
            </a:r>
            <a:r>
              <a:rPr/>
              <a:t> </a:t>
            </a:r>
            <a:r>
              <a:rPr b="1"/>
              <a:t>全角35〜45文字</a:t>
            </a:r>
          </a:p>
          <a:p>
            <a:pPr lvl="1"/>
            <a:r>
              <a:rPr/>
              <a:t>これを超えると視線の移動が大きくなり、読みにくくなります。適度な位置で改行を入れましょう。</a:t>
            </a:r>
          </a:p>
          <a:p>
            <a:pPr lvl="0"/>
            <a:r>
              <a:rPr b="1"/>
              <a:t>箇条書きの項目数:</a:t>
            </a:r>
            <a:r>
              <a:rPr/>
              <a:t> </a:t>
            </a:r>
            <a:r>
              <a:rPr b="1"/>
              <a:t>5〜7個</a:t>
            </a:r>
            <a:r>
              <a:rPr/>
              <a:t>まで</a:t>
            </a:r>
          </a:p>
          <a:p>
            <a:pPr lvl="0"/>
            <a:r>
              <a:rPr b="1"/>
              <a:t>各項目の行数:</a:t>
            </a:r>
            <a:r>
              <a:rPr/>
              <a:t> </a:t>
            </a:r>
            <a:r>
              <a:rPr b="1"/>
              <a:t>1〜2行</a:t>
            </a:r>
            <a:r>
              <a:rPr/>
              <a:t>が理想</a:t>
            </a:r>
          </a:p>
          <a:p>
            <a:pPr lvl="0"/>
            <a:r>
              <a:rPr b="1"/>
              <a:t>文章（パラグラフ）の行数:</a:t>
            </a:r>
            <a:r>
              <a:rPr/>
              <a:t> </a:t>
            </a:r>
            <a:r>
              <a:rPr b="1"/>
              <a:t>5〜7行</a:t>
            </a:r>
            <a:r>
              <a:rPr/>
              <a:t>程度まで</a:t>
            </a:r>
          </a:p>
          <a:p>
            <a:pPr lvl="0" indent="0" marL="0">
              <a:buNone/>
            </a:pPr>
            <a:r>
              <a:rPr/>
              <a:t>スライドはドキュメントではありません。詳細は口頭で補うか、別途資料を配布しましょう。</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その他の要素のルール</a:t>
            </a:r>
          </a:p>
          <a:p>
            <a:pPr lvl="0" indent="0" marL="0">
              <a:spcBef>
                <a:spcPts val="3000"/>
              </a:spcBef>
              <a:buNone/>
            </a:pPr>
            <a:r>
              <a:rPr b="1"/>
              <a:t>見出し3 (</a:t>
            </a:r>
            <a:r>
              <a:rPr b="1">
                <a:latin typeface="Courier"/>
              </a:rPr>
              <a:t>###</a:t>
            </a:r>
            <a:r>
              <a:rPr b="1"/>
              <a:t>)</a:t>
            </a:r>
          </a:p>
          <a:p>
            <a:pPr lvl="0" indent="0" marL="0">
              <a:buNone/>
            </a:pPr>
            <a:r>
              <a:rPr/>
              <a:t>サブタイトルや小見出しとして使用します。 - </a:t>
            </a:r>
            <a:r>
              <a:rPr b="1"/>
              <a:t>目安:</a:t>
            </a:r>
            <a:r>
              <a:rPr/>
              <a:t> 全角15文字以内 - </a:t>
            </a:r>
            <a:r>
              <a:rPr b="1"/>
              <a:t>役割:</a:t>
            </a:r>
            <a:r>
              <a:rPr/>
              <a:t> これから話す内容を簡潔に示します。</a:t>
            </a:r>
          </a:p>
          <a:p>
            <a:pPr lvl="0" indent="0" marL="0">
              <a:spcBef>
                <a:spcPts val="3000"/>
              </a:spcBef>
              <a:buNone/>
            </a:pPr>
            <a:r>
              <a:rPr b="1"/>
              <a:t>テーブル (</a:t>
            </a:r>
            <a:r>
              <a:rPr b="1">
                <a:latin typeface="Courier"/>
              </a:rPr>
              <a:t>| |</a:t>
            </a:r>
            <a:r>
              <a:rPr b="1"/>
              <a:t>)</a:t>
            </a:r>
          </a:p>
          <a:p>
            <a:pPr lvl="0" indent="0" marL="0">
              <a:buNone/>
            </a:pPr>
            <a:r>
              <a:rPr/>
              <a:t>情報を整理して見せる際に有効ですが、複雑になりすぎないように注意が必要です。 - </a:t>
            </a:r>
            <a:r>
              <a:rPr b="1"/>
              <a:t>推奨カラム（列）数:</a:t>
            </a:r>
            <a:r>
              <a:rPr/>
              <a:t> </a:t>
            </a:r>
            <a:r>
              <a:rPr b="1"/>
              <a:t>3〜4列</a:t>
            </a:r>
            <a:r>
              <a:rPr/>
              <a:t>まで - </a:t>
            </a:r>
            <a:r>
              <a:rPr b="1"/>
              <a:t>セル内のテキスト:</a:t>
            </a:r>
            <a:r>
              <a:rPr/>
              <a:t> 可能な限り簡潔に。長いテキストは箇条書きにするなど、表現を工夫しましょう。</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2026-03-11T13:50:00Z</dcterms:created>
  <dcterms:modified xsi:type="dcterms:W3CDTF">2026-03-11T13:50:00Z</dcterms:modified>
</cp:coreProperties>
</file>

<file path=docProps/custom.xml><?xml version="1.0" encoding="utf-8"?>
<Properties xmlns="http://schemas.openxmlformats.org/officeDocument/2006/custom-properties" xmlns:vt="http://schemas.openxmlformats.org/officeDocument/2006/docPropsVTypes"/>
</file>