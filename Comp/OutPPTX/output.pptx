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Marp サンプル</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 my-theme</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About Marp</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公式</a:t>
            </a:r>
          </a:p>
        </p:txBody>
      </p:sp>
      <p:sp>
        <p:nvSpPr>
          <p:cNvPr id="3" name="TextBox 2"/>
          <p:cNvSpPr txBox="1"/>
          <p:nvPr/>
        </p:nvSpPr>
        <p:spPr>
          <a:xfrm>
            <a:off x="457200" y="1371600"/>
            <a:ext cx="8229600" cy="4572000"/>
          </a:xfrm>
          <a:prstGeom prst="rect">
            <a:avLst/>
          </a:prstGeom>
          <a:noFill/>
        </p:spPr>
        <p:txBody>
          <a:bodyPr wrap="none">
            <a:spAutoFit/>
          </a:bodyPr>
          <a:lstStyle/>
          <a:p/>
          <a:p>
            <a:pPr/>
            <a:r>
              <a:t>Marpit: 基盤ライブラリ：　[https://marpit.marp.app/](https://marpit.marp.app/)</a:t>
            </a:r>
          </a:p>
          <a:p>
            <a:pPr/>
            <a:r>
              <a:t>Marp: アプリケーション群：　(https://marp.app/)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VS Code Extension</a:t>
            </a:r>
          </a:p>
        </p:txBody>
      </p:sp>
      <p:sp>
        <p:nvSpPr>
          <p:cNvPr id="3" name="TextBox 2"/>
          <p:cNvSpPr txBox="1"/>
          <p:nvPr/>
        </p:nvSpPr>
        <p:spPr>
          <a:xfrm>
            <a:off x="457200" y="1371600"/>
            <a:ext cx="8229600" cy="4572000"/>
          </a:xfrm>
          <a:prstGeom prst="rect">
            <a:avLst/>
          </a:prstGeom>
          <a:noFill/>
        </p:spPr>
        <p:txBody>
          <a:bodyPr wrap="none">
            <a:spAutoFit/>
          </a:bodyPr>
          <a:lstStyle/>
          <a:p/>
          <a:p>
            <a:pPr/>
            <a:r>
              <a:t>Marp for VS Code</a:t>
            </a:r>
          </a:p>
          <a:p>
            <a:pPr/>
            <a:r>
              <a:t>User setting に theme css ファイル名を指定し、workspaceフォルダに置く</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テンプレート・サンプル</a:t>
            </a:r>
          </a:p>
        </p:txBody>
      </p:sp>
      <p:sp>
        <p:nvSpPr>
          <p:cNvPr id="3" name="TextBox 2"/>
          <p:cNvSpPr txBox="1"/>
          <p:nvPr/>
        </p:nvSpPr>
        <p:spPr>
          <a:xfrm>
            <a:off x="457200" y="1371600"/>
            <a:ext cx="8229600" cy="4572000"/>
          </a:xfrm>
          <a:prstGeom prst="rect">
            <a:avLst/>
          </a:prstGeom>
          <a:noFill/>
        </p:spPr>
        <p:txBody>
          <a:bodyPr wrap="none">
            <a:spAutoFit/>
          </a:bodyPr>
          <a:lstStyle/>
          <a:p/>
          <a:p>
            <a:pPr/>
            <a:r>
              <a:t>https://qiita.com/tomo_makes/items/aafae4021986553ae1d8</a:t>
            </a:r>
          </a:p>
          <a:p>
            <a:pPr/>
            <a:r>
              <a:t>https://qiita.com/zono_0/items/e6ab64f381440578ea1c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テーブル・見出し・箇条書き</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体制図</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graphicFrame>
        <p:nvGraphicFramePr>
          <p:cNvPr id="3" name="Table 2"/>
          <p:cNvGraphicFramePr>
            <a:graphicFrameLocks noGrp="1"/>
          </p:cNvGraphicFramePr>
          <p:nvPr/>
        </p:nvGraphicFramePr>
        <p:xfrm>
          <a:off x="457200" y="914400"/>
          <a:ext cx="8229600" cy="4572000"/>
        </p:xfrm>
        <a:graphic>
          <a:graphicData uri="http://schemas.openxmlformats.org/drawingml/2006/table">
            <a:tbl>
              <a:tblPr firstRow="1" bandRow="1">
                <a:tableStyleId>{5C22544A-7EE6-4342-B048-85BDC9FD1C3A}</a:tableStyleId>
              </a:tblPr>
              <a:tblGrid>
                <a:gridCol w="2743200"/>
                <a:gridCol w="2743200"/>
                <a:gridCol w="2743200"/>
              </a:tblGrid>
              <a:tr h="1143000">
                <a:tc>
                  <a:txBody>
                    <a:bodyPr/>
                    <a:lstStyle/>
                    <a:p>
                      <a:r>
                        <a:t>役割</a:t>
                      </a:r>
                    </a:p>
                  </a:txBody>
                  <a:tcPr/>
                </a:tc>
                <a:tc>
                  <a:txBody>
                    <a:bodyPr/>
                    <a:lstStyle/>
                    <a:p>
                      <a:r>
                        <a:t>担当者</a:t>
                      </a:r>
                    </a:p>
                  </a:txBody>
                  <a:tcPr/>
                </a:tc>
                <a:tc>
                  <a:txBody>
                    <a:bodyPr/>
                    <a:lstStyle/>
                    <a:p>
                      <a:r>
                        <a:t>責任範囲</a:t>
                      </a:r>
                    </a:p>
                  </a:txBody>
                  <a:tcPr/>
                </a:tc>
              </a:tr>
              <a:tr h="1143000">
                <a:tc>
                  <a:txBody>
                    <a:bodyPr/>
                    <a:lstStyle/>
                    <a:p>
                      <a:r>
                        <a:t>プロジェクトマネージャー</a:t>
                      </a:r>
                    </a:p>
                  </a:txBody>
                  <a:tcPr/>
                </a:tc>
                <a:tc>
                  <a:txBody>
                    <a:bodyPr/>
                    <a:lstStyle/>
                    <a:p>
                      <a:r>
                        <a:t>[PM名]</a:t>
                      </a:r>
                    </a:p>
                  </a:txBody>
                  <a:tcPr/>
                </a:tc>
                <a:tc>
                  <a:txBody>
                    <a:bodyPr/>
                    <a:lstStyle/>
                    <a:p>
                      <a:r>
                        <a:t>全体管理、進捗、課題管理</a:t>
                      </a:r>
                    </a:p>
                  </a:txBody>
                  <a:tcPr/>
                </a:tc>
              </a:tr>
              <a:tr h="1143000">
                <a:tc>
                  <a:txBody>
                    <a:bodyPr/>
                    <a:lstStyle/>
                    <a:p>
                      <a:r>
                        <a:t>テックリード</a:t>
                      </a:r>
                    </a:p>
                  </a:txBody>
                  <a:tcPr/>
                </a:tc>
                <a:tc>
                  <a:txBody>
                    <a:bodyPr/>
                    <a:lstStyle/>
                    <a:p>
                      <a:r>
                        <a:t>[リード名]</a:t>
                      </a:r>
                    </a:p>
                  </a:txBody>
                  <a:tcPr/>
                </a:tc>
                <a:tc>
                  <a:txBody>
                    <a:bodyPr/>
                    <a:lstStyle/>
                    <a:p>
                      <a:r>
                        <a:t>技術選定、設計、コードレビュー</a:t>
                      </a:r>
                    </a:p>
                  </a:txBody>
                  <a:tcPr/>
                </a:tc>
              </a:tr>
              <a:tr h="1143000">
                <a:tc>
                  <a:txBody>
                    <a:bodyPr/>
                    <a:lstStyle/>
                    <a:p>
                      <a:r>
                        <a:t>開発担当</a:t>
                      </a:r>
                    </a:p>
                  </a:txBody>
                  <a:tcPr/>
                </a:tc>
                <a:tc>
                  <a:txBody>
                    <a:bodyPr/>
                    <a:lstStyle/>
                    <a:p>
                      <a:r>
                        <a:t>[開発者名]</a:t>
                      </a:r>
                    </a:p>
                  </a:txBody>
                  <a:tcPr/>
                </a:tc>
                <a:tc>
                  <a:txBody>
                    <a:bodyPr/>
                    <a:lstStyle/>
                    <a:p>
                      <a:r>
                        <a:t>機能実装、テスト</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見出し3</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見出し4</a:t>
            </a:r>
          </a:p>
        </p:txBody>
      </p:sp>
      <p:sp>
        <p:nvSpPr>
          <p:cNvPr id="3" name="TextBox 2"/>
          <p:cNvSpPr txBox="1"/>
          <p:nvPr/>
        </p:nvSpPr>
        <p:spPr>
          <a:xfrm>
            <a:off x="457200" y="1371600"/>
            <a:ext cx="8229600" cy="4572000"/>
          </a:xfrm>
          <a:prstGeom prst="rect">
            <a:avLst/>
          </a:prstGeom>
          <a:noFill/>
        </p:spPr>
        <p:txBody>
          <a:bodyPr wrap="none">
            <a:spAutoFit/>
          </a:bodyPr>
          <a:lstStyle/>
          <a:p/>
          <a:p>
            <a:pPr/>
            <a:r>
              <a:t>**定例会議:** 毎週月曜日 10:00-10:30</a:t>
            </a:r>
          </a:p>
          <a:p>
            <a:pPr/>
            <a:r>
              <a:t>**連絡ツール:** Slack, Google Meet</a:t>
            </a:r>
          </a:p>
          <a:p>
            <a:pPr/>
            <a:r>
              <a:t>その他</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 Guideline</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このテンプレートを美しく保つためのルール</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スライドタイトル (`##`) のルール</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**原則: 必ず1行に収めること**</a:t>
            </a:r>
          </a:p>
        </p:txBody>
      </p:sp>
      <p:sp>
        <p:nvSpPr>
          <p:cNvPr id="3" name="TextBox 2"/>
          <p:cNvSpPr txBox="1"/>
          <p:nvPr/>
        </p:nvSpPr>
        <p:spPr>
          <a:xfrm>
            <a:off x="457200" y="1371600"/>
            <a:ext cx="8229600" cy="4572000"/>
          </a:xfrm>
          <a:prstGeom prst="rect">
            <a:avLst/>
          </a:prstGeom>
          <a:noFill/>
        </p:spPr>
        <p:txBody>
          <a:bodyPr wrap="none">
            <a:spAutoFit/>
          </a:bodyPr>
          <a:lstStyle/>
          <a:p/>
          <a:p>
            <a:pPr/>
            <a:r>
              <a:t>タイトルが2行になると、後続のコンテンツと重なり、レイアウトが完全に崩れてしまいます。これは最も重要なルールです。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**目安: 全角30文字以内**</a:t>
            </a:r>
          </a:p>
        </p:txBody>
      </p:sp>
      <p:sp>
        <p:nvSpPr>
          <p:cNvPr id="3" name="TextBox 2"/>
          <p:cNvSpPr txBox="1"/>
          <p:nvPr/>
        </p:nvSpPr>
        <p:spPr>
          <a:xfrm>
            <a:off x="457200" y="1371600"/>
            <a:ext cx="8229600" cy="4572000"/>
          </a:xfrm>
          <a:prstGeom prst="rect">
            <a:avLst/>
          </a:prstGeom>
          <a:noFill/>
        </p:spPr>
        <p:txBody>
          <a:bodyPr wrap="none">
            <a:spAutoFit/>
          </a:bodyPr>
          <a:lstStyle/>
          <a:p/>
          <a:p>
            <a:pPr/>
            <a:r>
              <a:t>簡潔で分かりやすいタイトルを心がけてください。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&lt;span class="bad-example"&gt;悪い例 (Bad) &lt;/span&gt;</a:t>
            </a:r>
          </a:p>
        </p:txBody>
      </p:sp>
      <p:sp>
        <p:nvSpPr>
          <p:cNvPr id="3" name="TextBox 2"/>
          <p:cNvSpPr txBox="1"/>
          <p:nvPr/>
        </p:nvSpPr>
        <p:spPr>
          <a:xfrm>
            <a:off x="457200" y="1371600"/>
            <a:ext cx="8229600" cy="4572000"/>
          </a:xfrm>
          <a:prstGeom prst="rect">
            <a:avLst/>
          </a:prstGeom>
          <a:noFill/>
        </p:spPr>
        <p:txBody>
          <a:bodyPr wrap="none">
            <a:spAutoFit/>
          </a:bodyPr>
          <a:lstStyle/>
          <a:p/>
          <a:p>
            <a:pPr/>
            <a:r>
              <a:t>`## このプロジェクトにおける非常に重要な技術的負債とその具体的な返済計画に関する長大な考察`</a:t>
            </a:r>
            <a:br/>
            <a:r>
              <a:t>（長すぎて改行され、レイアウトが崩れます）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本文・箇条書きのルール</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**原則: 1スライド・1メッセージ**</a:t>
            </a:r>
          </a:p>
        </p:txBody>
      </p:sp>
      <p:sp>
        <p:nvSpPr>
          <p:cNvPr id="3" name="TextBox 2"/>
          <p:cNvSpPr txBox="1"/>
          <p:nvPr/>
        </p:nvSpPr>
        <p:spPr>
          <a:xfrm>
            <a:off x="457200" y="1371600"/>
            <a:ext cx="8229600" cy="4572000"/>
          </a:xfrm>
          <a:prstGeom prst="rect">
            <a:avLst/>
          </a:prstGeom>
          <a:noFill/>
        </p:spPr>
        <p:txBody>
          <a:bodyPr wrap="none">
            <a:spAutoFit/>
          </a:bodyPr>
          <a:lstStyle/>
          <a:p/>
          <a:p>
            <a:pPr/>
            <a:r>
              <a:t>1枚のスライドに情報を詰め込みすぎず、聞き手が集中できるよう、最も伝えたいメッセージを1つに絞りましょう。</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**推奨するレイアウトと文字量**</a:t>
            </a:r>
          </a:p>
        </p:txBody>
      </p:sp>
      <p:sp>
        <p:nvSpPr>
          <p:cNvPr id="3" name="TextBox 2"/>
          <p:cNvSpPr txBox="1"/>
          <p:nvPr/>
        </p:nvSpPr>
        <p:spPr>
          <a:xfrm>
            <a:off x="457200" y="1371600"/>
            <a:ext cx="8229600" cy="4572000"/>
          </a:xfrm>
          <a:prstGeom prst="rect">
            <a:avLst/>
          </a:prstGeom>
          <a:noFill/>
        </p:spPr>
        <p:txBody>
          <a:bodyPr wrap="none">
            <a:spAutoFit/>
          </a:bodyPr>
          <a:lstStyle/>
          <a:p/>
          <a:p>
            <a:pPr/>
            <a:r>
              <a:t>**1行あたりの文字数:** **全角35〜45文字**</a:t>
            </a:r>
          </a:p>
          <a:p>
            <a:pPr/>
            <a:r>
              <a:t>これを超えると視線の移動が大きくなり、読みにくくなります。適度な位置で改行を入れましょう。</a:t>
            </a:r>
          </a:p>
          <a:p>
            <a:pPr/>
            <a:r>
              <a:t>**箇条書きの項目数:** **5〜7個**まで</a:t>
            </a:r>
          </a:p>
          <a:p>
            <a:pPr/>
            <a:r>
              <a:t>**各項目の行数:** **1〜2行**が理想</a:t>
            </a:r>
          </a:p>
          <a:p>
            <a:pPr/>
            <a:r>
              <a:t>**文章（パラグラフ）の行数:** **5〜7行**程度まで</a:t>
            </a:r>
          </a:p>
          <a:p>
            <a:pPr/>
            <a:r>
              <a:t>スライドはドキュメントではありません。詳細は口頭で補うか、別途資料を配布しましょう。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その他の要素のルール</a:t>
            </a:r>
          </a:p>
        </p:txBody>
      </p:sp>
      <p:sp>
        <p:nvSpPr>
          <p:cNvPr id="3" name="TextBox 2"/>
          <p:cNvSpPr txBox="1"/>
          <p:nvPr/>
        </p:nvSpPr>
        <p:spPr>
          <a:xfrm>
            <a:off x="457200" y="1371600"/>
            <a:ext cx="8229600" cy="4572000"/>
          </a:xfrm>
          <a:prstGeom prst="rect">
            <a:avLst/>
          </a:prstGeom>
          <a:noFill/>
        </p:spPr>
        <p:txBody>
          <a:bodyPr wrap="none">
            <a:spAutoFit/>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見出し3 (`###`)</a:t>
            </a:r>
          </a:p>
        </p:txBody>
      </p:sp>
      <p:sp>
        <p:nvSpPr>
          <p:cNvPr id="3" name="TextBox 2"/>
          <p:cNvSpPr txBox="1"/>
          <p:nvPr/>
        </p:nvSpPr>
        <p:spPr>
          <a:xfrm>
            <a:off x="457200" y="1371600"/>
            <a:ext cx="8229600" cy="4572000"/>
          </a:xfrm>
          <a:prstGeom prst="rect">
            <a:avLst/>
          </a:prstGeom>
          <a:noFill/>
        </p:spPr>
        <p:txBody>
          <a:bodyPr wrap="none">
            <a:spAutoFit/>
          </a:bodyPr>
          <a:lstStyle/>
          <a:p/>
          <a:p>
            <a:pPr/>
            <a:r>
              <a:t>サブタイトルや小見出しとして使用します。</a:t>
            </a:r>
          </a:p>
          <a:p>
            <a:pPr/>
            <a:r>
              <a:t>**目安:** 全角15文字以内</a:t>
            </a:r>
          </a:p>
          <a:p>
            <a:pPr/>
            <a:r>
              <a:t>**役割:** これから話す内容を簡潔に示します。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テーブル (`| |`)</a:t>
            </a:r>
          </a:p>
        </p:txBody>
      </p:sp>
      <p:sp>
        <p:nvSpPr>
          <p:cNvPr id="3" name="TextBox 2"/>
          <p:cNvSpPr txBox="1"/>
          <p:nvPr/>
        </p:nvSpPr>
        <p:spPr>
          <a:xfrm>
            <a:off x="457200" y="1371600"/>
            <a:ext cx="8229600" cy="4572000"/>
          </a:xfrm>
          <a:prstGeom prst="rect">
            <a:avLst/>
          </a:prstGeom>
          <a:noFill/>
        </p:spPr>
        <p:txBody>
          <a:bodyPr wrap="none">
            <a:spAutoFit/>
          </a:bodyPr>
          <a:lstStyle/>
          <a:p/>
          <a:p>
            <a:pPr/>
            <a:r>
              <a:t>情報を整理して見せる際に有効ですが、複雑になりすぎないように注意が必要です。</a:t>
            </a:r>
          </a:p>
          <a:p>
            <a:pPr/>
            <a:r>
              <a:t>**推奨カラム（列）数:** **3〜4列**まで</a:t>
            </a:r>
          </a:p>
          <a:p>
            <a:pPr/>
            <a:r>
              <a:t>**セル内のテキスト:** 可能な限り簡潔に。長いテキストは箇条書きにするなど、表現を工夫しましょう。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